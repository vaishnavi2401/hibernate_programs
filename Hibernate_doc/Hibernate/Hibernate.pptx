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4" r:id="rId4"/>
    <p:sldId id="263" r:id="rId5"/>
    <p:sldId id="272" r:id="rId6"/>
    <p:sldId id="256" r:id="rId7"/>
    <p:sldId id="273" r:id="rId8"/>
    <p:sldId id="260" r:id="rId9"/>
    <p:sldId id="257" r:id="rId10"/>
    <p:sldId id="262" r:id="rId11"/>
    <p:sldId id="266" r:id="rId12"/>
    <p:sldId id="265" r:id="rId13"/>
    <p:sldId id="274" r:id="rId14"/>
    <p:sldId id="267" r:id="rId15"/>
    <p:sldId id="268" r:id="rId16"/>
    <p:sldId id="270" r:id="rId17"/>
    <p:sldId id="269" r:id="rId18"/>
    <p:sldId id="271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02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Hibernate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Stable Release (6.1)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2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Hibernate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5259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Hibernate is an </a:t>
            </a:r>
            <a:r>
              <a:rPr lang="en-US" b="1" dirty="0"/>
              <a:t>O</a:t>
            </a:r>
            <a:r>
              <a:rPr lang="en-US" dirty="0"/>
              <a:t>bject-</a:t>
            </a:r>
            <a:r>
              <a:rPr lang="en-US" b="1" dirty="0"/>
              <a:t>R</a:t>
            </a:r>
            <a:r>
              <a:rPr lang="en-US" dirty="0"/>
              <a:t>elational </a:t>
            </a:r>
            <a:r>
              <a:rPr lang="en-US" b="1" dirty="0"/>
              <a:t>M</a:t>
            </a:r>
            <a:r>
              <a:rPr lang="en-US" dirty="0"/>
              <a:t>apping (ORM) solution for JAVA.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It provides a framework for mapping an object-oriented domain model to a relational database.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is an open source persistent framework created by Gavin King in 2001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Hibernate is one such implementation of JPA specification. </a:t>
            </a:r>
          </a:p>
        </p:txBody>
      </p:sp>
    </p:spTree>
    <p:extLst>
      <p:ext uri="{BB962C8B-B14F-4D97-AF65-F5344CB8AC3E}">
        <p14:creationId xmlns:p14="http://schemas.microsoft.com/office/powerpoint/2010/main" val="1744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JDBC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 algn="just"/>
            <a:r>
              <a:rPr lang="en-US" dirty="0"/>
              <a:t>JDBC stands for </a:t>
            </a:r>
            <a:r>
              <a:rPr lang="en-US" b="1" dirty="0"/>
              <a:t>Java Database Connectivity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provides a set of Java API for accessing the relational databases from Java program.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Java APIs enables Java programs to execute SQL statements and interact with any SQL compliant database.</a:t>
            </a:r>
          </a:p>
        </p:txBody>
      </p:sp>
    </p:spTree>
    <p:extLst>
      <p:ext uri="{BB962C8B-B14F-4D97-AF65-F5344CB8AC3E}">
        <p14:creationId xmlns:p14="http://schemas.microsoft.com/office/powerpoint/2010/main" val="188278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Object Relational Mapping (ORM</a:t>
            </a:r>
            <a:r>
              <a:rPr lang="en-US" b="1" dirty="0" smtClean="0"/>
              <a:t>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2514600"/>
            <a:ext cx="8458200" cy="23622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-&gt; what </a:t>
            </a:r>
            <a:r>
              <a:rPr lang="en-US" dirty="0"/>
              <a:t>if we need to modify the design of our database after having developed </a:t>
            </a:r>
            <a:r>
              <a:rPr lang="en-US" dirty="0" smtClean="0"/>
              <a:t>the </a:t>
            </a:r>
            <a:r>
              <a:rPr lang="en-US" dirty="0"/>
              <a:t>application</a:t>
            </a:r>
            <a:r>
              <a:rPr lang="en-US" dirty="0" smtClean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-&gt; Loading </a:t>
            </a:r>
            <a:r>
              <a:rPr lang="en-US" dirty="0"/>
              <a:t>and storing objects in a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289836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918900"/>
            <a:ext cx="3352800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smtClean="0"/>
              <a:t>Employee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   private </a:t>
            </a:r>
            <a:r>
              <a:rPr lang="en-US" dirty="0" err="1"/>
              <a:t>int</a:t>
            </a:r>
            <a:r>
              <a:rPr lang="en-US" dirty="0"/>
              <a:t> id; </a:t>
            </a:r>
            <a:endParaRPr lang="en-US" dirty="0" smtClean="0"/>
          </a:p>
          <a:p>
            <a:r>
              <a:rPr lang="en-US" dirty="0" smtClean="0"/>
              <a:t>   private </a:t>
            </a:r>
            <a:r>
              <a:rPr lang="en-US" dirty="0"/>
              <a:t>String </a:t>
            </a:r>
            <a:r>
              <a:rPr lang="en-US" dirty="0" err="1"/>
              <a:t>first_name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   private </a:t>
            </a:r>
            <a:r>
              <a:rPr lang="en-US" dirty="0"/>
              <a:t>String </a:t>
            </a:r>
            <a:r>
              <a:rPr lang="en-US" dirty="0" err="1"/>
              <a:t>last_name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private String email;</a:t>
            </a:r>
          </a:p>
          <a:p>
            <a:r>
              <a:rPr lang="en-US" dirty="0" smtClean="0"/>
              <a:t>}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1999" y="1918900"/>
            <a:ext cx="4112023" cy="25853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create </a:t>
            </a:r>
            <a:r>
              <a:rPr lang="en-US" dirty="0"/>
              <a:t>table EMPLOYEE ( </a:t>
            </a:r>
            <a:endParaRPr lang="en-US" dirty="0" smtClean="0"/>
          </a:p>
          <a:p>
            <a:r>
              <a:rPr lang="en-US" dirty="0" smtClean="0"/>
              <a:t>    id </a:t>
            </a:r>
            <a:r>
              <a:rPr lang="en-US" dirty="0"/>
              <a:t>INT NOT NULL </a:t>
            </a:r>
            <a:r>
              <a:rPr lang="en-US" dirty="0" err="1"/>
              <a:t>auto_increment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first_name</a:t>
            </a:r>
            <a:r>
              <a:rPr lang="en-US" dirty="0" smtClean="0"/>
              <a:t> </a:t>
            </a:r>
            <a:r>
              <a:rPr lang="en-US" dirty="0"/>
              <a:t>VARCHAR(20) default NULL, 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last_name</a:t>
            </a:r>
            <a:r>
              <a:rPr lang="en-US" dirty="0" smtClean="0"/>
              <a:t> </a:t>
            </a:r>
            <a:r>
              <a:rPr lang="en-US" dirty="0"/>
              <a:t>VARCHAR(20) default NULL, </a:t>
            </a:r>
            <a:endParaRPr lang="en-US" dirty="0" smtClean="0"/>
          </a:p>
          <a:p>
            <a:r>
              <a:rPr lang="en-US" dirty="0" smtClean="0"/>
              <a:t>    email VARCHAR(80) default </a:t>
            </a:r>
            <a:r>
              <a:rPr lang="en-US" dirty="0"/>
              <a:t>NULL, </a:t>
            </a:r>
            <a:endParaRPr lang="en-US" dirty="0" smtClean="0"/>
          </a:p>
          <a:p>
            <a:r>
              <a:rPr lang="en-US" dirty="0" smtClean="0"/>
              <a:t>    PRIMARY </a:t>
            </a:r>
            <a:r>
              <a:rPr lang="en-US" dirty="0"/>
              <a:t>KEY (id) </a:t>
            </a:r>
            <a:endParaRPr lang="en-US" dirty="0" smtClean="0"/>
          </a:p>
          <a:p>
            <a:r>
              <a:rPr lang="en-US" dirty="0" smtClean="0"/>
              <a:t>);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76400" y="1549568"/>
            <a:ext cx="1118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Java Class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715000" y="1549568"/>
            <a:ext cx="201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Table in a database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327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668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ORM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ORM </a:t>
            </a:r>
            <a:r>
              <a:rPr lang="en-US" dirty="0"/>
              <a:t>stands for </a:t>
            </a:r>
            <a:r>
              <a:rPr lang="en-US" b="1" dirty="0"/>
              <a:t>O</a:t>
            </a:r>
            <a:r>
              <a:rPr lang="en-US" dirty="0"/>
              <a:t>bject-</a:t>
            </a:r>
            <a:r>
              <a:rPr lang="en-US" b="1" dirty="0"/>
              <a:t>R</a:t>
            </a:r>
            <a:r>
              <a:rPr lang="en-US" dirty="0"/>
              <a:t>elational </a:t>
            </a:r>
            <a:r>
              <a:rPr lang="en-US" b="1" dirty="0"/>
              <a:t>M</a:t>
            </a:r>
            <a:r>
              <a:rPr lang="en-US" dirty="0"/>
              <a:t>apping (ORM) is a programming technique for converting data between relational databases and object oriented programming </a:t>
            </a:r>
            <a:r>
              <a:rPr lang="en-US" dirty="0" smtClean="0"/>
              <a:t>languages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JPA</a:t>
            </a:r>
            <a:r>
              <a:rPr lang="en-US" dirty="0" smtClean="0"/>
              <a:t>: 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Java Persistence API (JPA) is a Java specification that provides certain functionality and standard to ORM tools. The </a:t>
            </a:r>
            <a:r>
              <a:rPr lang="en-US" b="1" dirty="0" err="1"/>
              <a:t>javax.persistence</a:t>
            </a:r>
            <a:r>
              <a:rPr lang="en-US" dirty="0"/>
              <a:t> package contains the JPA classes and interfaces.</a:t>
            </a:r>
          </a:p>
        </p:txBody>
      </p:sp>
    </p:spTree>
    <p:extLst>
      <p:ext uri="{BB962C8B-B14F-4D97-AF65-F5344CB8AC3E}">
        <p14:creationId xmlns:p14="http://schemas.microsoft.com/office/powerpoint/2010/main" val="157939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295400" y="2279210"/>
            <a:ext cx="6019800" cy="1684348"/>
            <a:chOff x="762000" y="1580584"/>
            <a:chExt cx="6019800" cy="1684348"/>
          </a:xfrm>
        </p:grpSpPr>
        <p:grpSp>
          <p:nvGrpSpPr>
            <p:cNvPr id="10" name="Group 9"/>
            <p:cNvGrpSpPr/>
            <p:nvPr/>
          </p:nvGrpSpPr>
          <p:grpSpPr>
            <a:xfrm>
              <a:off x="762000" y="1666592"/>
              <a:ext cx="1524000" cy="1086416"/>
              <a:chOff x="762000" y="1580584"/>
              <a:chExt cx="1524000" cy="1086416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762000" y="1600200"/>
                <a:ext cx="685800" cy="45720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ounded Rectangle 2"/>
              <p:cNvSpPr/>
              <p:nvPr/>
            </p:nvSpPr>
            <p:spPr>
              <a:xfrm>
                <a:off x="762000" y="2209800"/>
                <a:ext cx="685800" cy="45720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ounded Rectangle 3"/>
              <p:cNvSpPr/>
              <p:nvPr/>
            </p:nvSpPr>
            <p:spPr>
              <a:xfrm>
                <a:off x="1600200" y="1580584"/>
                <a:ext cx="685800" cy="45720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ounded Rectangle 4"/>
              <p:cNvSpPr/>
              <p:nvPr/>
            </p:nvSpPr>
            <p:spPr>
              <a:xfrm>
                <a:off x="1600200" y="2209800"/>
                <a:ext cx="685800" cy="45720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3124200" y="1580584"/>
              <a:ext cx="1905000" cy="1238816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ORM/Hibernate</a:t>
              </a:r>
              <a:endParaRPr lang="en-US" dirty="0"/>
            </a:p>
          </p:txBody>
        </p:sp>
        <p:sp>
          <p:nvSpPr>
            <p:cNvPr id="9" name="Can 8"/>
            <p:cNvSpPr/>
            <p:nvPr/>
          </p:nvSpPr>
          <p:spPr>
            <a:xfrm>
              <a:off x="5867400" y="1801639"/>
              <a:ext cx="914400" cy="912891"/>
            </a:xfrm>
            <a:prstGeom prst="can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RDBMS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04753" y="2895600"/>
              <a:ext cx="1390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Java Objects</a:t>
              </a:r>
              <a:endParaRPr lang="en-US" dirty="0"/>
            </a:p>
          </p:txBody>
        </p:sp>
        <p:cxnSp>
          <p:nvCxnSpPr>
            <p:cNvPr id="13" name="Straight Arrow Connector 12"/>
            <p:cNvCxnSpPr>
              <a:endCxn id="8" idx="1"/>
            </p:cNvCxnSpPr>
            <p:nvPr/>
          </p:nvCxnSpPr>
          <p:spPr>
            <a:xfrm>
              <a:off x="2286000" y="2199992"/>
              <a:ext cx="8382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029200" y="2258085"/>
              <a:ext cx="8382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533400" y="4495800"/>
            <a:ext cx="830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Hibernate sits between traditional Java objects and database server </a:t>
            </a:r>
            <a:r>
              <a:rPr lang="en-US" dirty="0" smtClean="0"/>
              <a:t>to handle </a:t>
            </a:r>
            <a:r>
              <a:rPr lang="en-US" dirty="0"/>
              <a:t>all the works in persisting those objects based on the appropriate O/R </a:t>
            </a:r>
            <a:r>
              <a:rPr lang="en-US" dirty="0" smtClean="0"/>
              <a:t>mechanisms.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mapping Java classes to database tables is accomplished through the configuration of an XML file or by using Java annotations. </a:t>
            </a:r>
          </a:p>
        </p:txBody>
      </p:sp>
    </p:spTree>
    <p:extLst>
      <p:ext uri="{BB962C8B-B14F-4D97-AF65-F5344CB8AC3E}">
        <p14:creationId xmlns:p14="http://schemas.microsoft.com/office/powerpoint/2010/main" val="315217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Hibernate </a:t>
            </a:r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It takes </a:t>
            </a:r>
            <a:r>
              <a:rPr lang="en-US" dirty="0"/>
              <a:t>care of mapping Java classes to database tables using XML files and without writing any line of code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Provides simple APIs for storing </a:t>
            </a:r>
            <a:r>
              <a:rPr lang="en-US" dirty="0" smtClean="0"/>
              <a:t>and </a:t>
            </a:r>
            <a:r>
              <a:rPr lang="en-US" dirty="0"/>
              <a:t>retrieving Java objects directly to and from the database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If there is change in the database or in any table, then you need to change the XML file properties only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Hibernate </a:t>
            </a:r>
            <a:r>
              <a:rPr lang="en-US" dirty="0"/>
              <a:t>does not require an application server to operate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Minimizes </a:t>
            </a:r>
            <a:r>
              <a:rPr lang="en-US" dirty="0"/>
              <a:t>database access with smart fetching strategies.</a:t>
            </a:r>
          </a:p>
          <a:p>
            <a:endParaRPr lang="en-US" dirty="0" smtClean="0"/>
          </a:p>
          <a:p>
            <a:r>
              <a:rPr lang="en-US" dirty="0" smtClean="0"/>
              <a:t>Provides </a:t>
            </a:r>
            <a:r>
              <a:rPr lang="en-US" dirty="0"/>
              <a:t>simple querying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pter 2.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38726"/>
            <a:ext cx="6311221" cy="5158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2" name="Right Brace 1"/>
          <p:cNvSpPr/>
          <p:nvPr/>
        </p:nvSpPr>
        <p:spPr>
          <a:xfrm>
            <a:off x="7070044" y="2418854"/>
            <a:ext cx="596894" cy="1043781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529705" y="2405914"/>
            <a:ext cx="14516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Core Objects </a:t>
            </a:r>
          </a:p>
          <a:p>
            <a:pPr algn="ctr"/>
            <a:r>
              <a:rPr lang="en-US" b="1" dirty="0" smtClean="0"/>
              <a:t>of </a:t>
            </a:r>
          </a:p>
          <a:p>
            <a:pPr algn="ctr"/>
            <a:r>
              <a:rPr lang="en-US" b="1" dirty="0" smtClean="0"/>
              <a:t>Hibernate </a:t>
            </a:r>
          </a:p>
          <a:p>
            <a:pPr algn="ctr"/>
            <a:r>
              <a:rPr lang="en-US" b="1" dirty="0" smtClean="0"/>
              <a:t>Framework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389218" y="1576137"/>
            <a:ext cx="1732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Java Application</a:t>
            </a:r>
            <a:endParaRPr lang="en-US" b="1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070044" y="1784866"/>
            <a:ext cx="31115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878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43"/>
            <a:ext cx="8229600" cy="814057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Configuration </a:t>
            </a:r>
            <a:r>
              <a:rPr lang="en-US" b="1" dirty="0" smtClean="0"/>
              <a:t>Object -</a:t>
            </a:r>
            <a:r>
              <a:rPr lang="en-US" dirty="0" smtClean="0"/>
              <a:t> </a:t>
            </a:r>
            <a:r>
              <a:rPr lang="en-US" dirty="0"/>
              <a:t> </a:t>
            </a:r>
            <a:r>
              <a:rPr lang="en-US" dirty="0" smtClean="0"/>
              <a:t>is the first </a:t>
            </a:r>
            <a:r>
              <a:rPr lang="en-US" dirty="0"/>
              <a:t>Hibernate object you create in any Hibernate application. It is usually created only once during application initialization. It represents a configuration or properties file required by the Hibernate.</a:t>
            </a:r>
            <a:endParaRPr lang="en-US" b="1" dirty="0"/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err="1" smtClean="0"/>
              <a:t>SessionFactory</a:t>
            </a:r>
            <a:r>
              <a:rPr lang="en-US" b="1" dirty="0" smtClean="0"/>
              <a:t> - </a:t>
            </a:r>
            <a:r>
              <a:rPr lang="en-US" dirty="0" smtClean="0"/>
              <a:t>is </a:t>
            </a:r>
            <a:r>
              <a:rPr lang="en-US" dirty="0"/>
              <a:t>a factory of session and client of </a:t>
            </a:r>
            <a:r>
              <a:rPr lang="en-US" dirty="0" err="1"/>
              <a:t>ConnectionProvider</a:t>
            </a:r>
            <a:r>
              <a:rPr lang="en-US" dirty="0"/>
              <a:t>. </a:t>
            </a:r>
            <a:r>
              <a:rPr lang="en-US" dirty="0" smtClean="0"/>
              <a:t>The </a:t>
            </a:r>
            <a:r>
              <a:rPr lang="en-US" b="1" dirty="0" err="1"/>
              <a:t>org.hibernate.SessionFactory</a:t>
            </a:r>
            <a:r>
              <a:rPr lang="en-US" dirty="0"/>
              <a:t> interface provides factory method to get the object of Session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It </a:t>
            </a:r>
            <a:r>
              <a:rPr lang="en-US" dirty="0"/>
              <a:t>is usually created during application start up and kept for later use. </a:t>
            </a:r>
            <a:endParaRPr lang="en-US" dirty="0" smtClean="0"/>
          </a:p>
          <a:p>
            <a:pPr lvl="1" algn="just"/>
            <a:r>
              <a:rPr lang="en-US" dirty="0" smtClean="0"/>
              <a:t>You </a:t>
            </a:r>
            <a:r>
              <a:rPr lang="en-US" dirty="0"/>
              <a:t>would need one </a:t>
            </a:r>
            <a:r>
              <a:rPr lang="en-US" dirty="0" err="1"/>
              <a:t>SessionFactory</a:t>
            </a:r>
            <a:r>
              <a:rPr lang="en-US" dirty="0"/>
              <a:t> object per database using a separate configuration file. </a:t>
            </a:r>
            <a:endParaRPr lang="en-US" dirty="0" smtClean="0"/>
          </a:p>
          <a:p>
            <a:pPr lvl="1" algn="just"/>
            <a:r>
              <a:rPr lang="en-US" dirty="0" smtClean="0"/>
              <a:t>So</a:t>
            </a:r>
            <a:r>
              <a:rPr lang="en-US" dirty="0"/>
              <a:t>, if you are using multiple databases, then you would have to create multiple </a:t>
            </a:r>
            <a:r>
              <a:rPr lang="en-US" dirty="0" err="1"/>
              <a:t>SessionFactory</a:t>
            </a:r>
            <a:r>
              <a:rPr lang="en-US" dirty="0"/>
              <a:t> objects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/>
              <a:t>It holds second level cache (optional) of data.</a:t>
            </a:r>
            <a:endParaRPr lang="en-US" dirty="0" smtClean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Session -</a:t>
            </a:r>
            <a:r>
              <a:rPr lang="en-US" dirty="0" smtClean="0"/>
              <a:t> </a:t>
            </a:r>
            <a:r>
              <a:rPr lang="en-US" dirty="0"/>
              <a:t>session object provides an interface between the application and data stored in the database. </a:t>
            </a:r>
            <a:r>
              <a:rPr lang="en-US" dirty="0" smtClean="0"/>
              <a:t>The </a:t>
            </a:r>
            <a:r>
              <a:rPr lang="en-US" b="1" dirty="0" err="1"/>
              <a:t>org.hibernate.Session</a:t>
            </a:r>
            <a:r>
              <a:rPr lang="en-US" dirty="0"/>
              <a:t> interface provides methods to insert, update and delete the object. </a:t>
            </a:r>
            <a:endParaRPr lang="en-US" dirty="0" smtClean="0"/>
          </a:p>
          <a:p>
            <a:pPr lvl="1" algn="just"/>
            <a:r>
              <a:rPr lang="en-US" dirty="0"/>
              <a:t>A Session is used to get a physical connection with a database. </a:t>
            </a:r>
            <a:endParaRPr lang="en-US" dirty="0" smtClean="0"/>
          </a:p>
          <a:p>
            <a:pPr lvl="1" algn="just"/>
            <a:r>
              <a:rPr lang="en-US" dirty="0" smtClean="0"/>
              <a:t>It </a:t>
            </a:r>
            <a:r>
              <a:rPr lang="en-US" dirty="0"/>
              <a:t>is factory of Transaction, Query and Criteria. </a:t>
            </a:r>
            <a:endParaRPr lang="en-US" dirty="0" smtClean="0"/>
          </a:p>
          <a:p>
            <a:pPr lvl="1" algn="just"/>
            <a:r>
              <a:rPr lang="en-US" dirty="0" smtClean="0"/>
              <a:t>It </a:t>
            </a:r>
            <a:r>
              <a:rPr lang="en-US" dirty="0"/>
              <a:t>holds a first-level cache (mandatory) of data.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565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62600"/>
          </a:xfrm>
        </p:spPr>
        <p:txBody>
          <a:bodyPr>
            <a:normAutofit fontScale="55000" lnSpcReduction="20000"/>
          </a:bodyPr>
          <a:lstStyle/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/>
              <a:t>Transaction</a:t>
            </a:r>
          </a:p>
          <a:p>
            <a:pPr algn="just"/>
            <a:r>
              <a:rPr lang="en-US" dirty="0"/>
              <a:t>The transaction object specifies the atomic unit of work. It is optional. The </a:t>
            </a:r>
            <a:r>
              <a:rPr lang="en-US" b="1" dirty="0" err="1"/>
              <a:t>org.hibernate.Transaction</a:t>
            </a:r>
            <a:r>
              <a:rPr lang="en-US" dirty="0"/>
              <a:t> interface provides methods for transaction management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Query</a:t>
            </a:r>
            <a:endParaRPr lang="en-US" b="1" dirty="0"/>
          </a:p>
          <a:p>
            <a:pPr algn="just"/>
            <a:r>
              <a:rPr lang="en-US" dirty="0"/>
              <a:t>Query objects use SQL or Hibernate Query Language (HQL) string to retrieve data from the database and create objects. </a:t>
            </a:r>
            <a:endParaRPr lang="en-US" dirty="0" smtClean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Criteria</a:t>
            </a:r>
            <a:endParaRPr lang="en-US" b="1" dirty="0"/>
          </a:p>
          <a:p>
            <a:pPr algn="just"/>
            <a:r>
              <a:rPr lang="en-US" dirty="0"/>
              <a:t>Criteria objects are used to create and execute object oriented criteria queries to retrieve </a:t>
            </a:r>
            <a:r>
              <a:rPr lang="en-US" dirty="0" smtClean="0"/>
              <a:t>objects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 err="1"/>
              <a:t>ConnectionProvider</a:t>
            </a:r>
            <a:endParaRPr lang="en-US" b="1" dirty="0"/>
          </a:p>
          <a:p>
            <a:pPr algn="just"/>
            <a:r>
              <a:rPr lang="en-US" dirty="0"/>
              <a:t>It is a factory of JDBC connections. It abstracts the application from </a:t>
            </a:r>
            <a:r>
              <a:rPr lang="en-US" dirty="0" err="1"/>
              <a:t>DriverManager</a:t>
            </a:r>
            <a:r>
              <a:rPr lang="en-US" dirty="0"/>
              <a:t> or </a:t>
            </a:r>
            <a:r>
              <a:rPr lang="en-US" dirty="0" err="1"/>
              <a:t>DataSource</a:t>
            </a:r>
            <a:r>
              <a:rPr lang="en-US" dirty="0"/>
              <a:t>. It is optional.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 err="1"/>
              <a:t>TransactionFactory</a:t>
            </a:r>
            <a:endParaRPr lang="en-US" b="1" dirty="0"/>
          </a:p>
          <a:p>
            <a:pPr algn="just"/>
            <a:r>
              <a:rPr lang="en-US" dirty="0"/>
              <a:t>It is a factory of Transaction. It is optional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79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Hibernate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Hibernate requires to know in advance — where to find the mapping information that defines how your Java classes relate to the database tables.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It also </a:t>
            </a:r>
            <a:r>
              <a:rPr lang="en-US" dirty="0"/>
              <a:t>requires a set of configuration settings related to database and other related parameters.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Such </a:t>
            </a:r>
            <a:r>
              <a:rPr lang="en-US" dirty="0"/>
              <a:t>information is usually supplied </a:t>
            </a:r>
            <a:r>
              <a:rPr lang="en-US" dirty="0" smtClean="0"/>
              <a:t>as an </a:t>
            </a:r>
            <a:r>
              <a:rPr lang="en-US" dirty="0"/>
              <a:t>XML file named </a:t>
            </a:r>
            <a:r>
              <a:rPr lang="en-US" b="1" dirty="0"/>
              <a:t>hibernate.cfg.xml</a:t>
            </a:r>
            <a:r>
              <a:rPr lang="en-US" dirty="0" smtClean="0"/>
              <a:t>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2487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169"/>
            <a:ext cx="8229600" cy="1143000"/>
          </a:xfrm>
        </p:spPr>
        <p:txBody>
          <a:bodyPr/>
          <a:lstStyle/>
          <a:p>
            <a:r>
              <a:rPr lang="en-US" dirty="0" smtClean="0"/>
              <a:t>Hello World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10200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hibernate.cfg.xml: </a:t>
            </a:r>
            <a:r>
              <a:rPr lang="en-US" dirty="0" smtClean="0"/>
              <a:t>contains the database connection and schema details</a:t>
            </a:r>
          </a:p>
          <a:p>
            <a:pPr algn="just"/>
            <a:r>
              <a:rPr lang="en-US" b="1" dirty="0" smtClean="0"/>
              <a:t>Employee: </a:t>
            </a:r>
            <a:r>
              <a:rPr lang="en-US" dirty="0" smtClean="0"/>
              <a:t>refers to a POJO (Plain Old Java Object) (hibernate annotations)</a:t>
            </a:r>
          </a:p>
          <a:p>
            <a:pPr algn="just"/>
            <a:r>
              <a:rPr lang="en-US" b="1" dirty="0" smtClean="0"/>
              <a:t>Employee.hbm.xml:</a:t>
            </a:r>
            <a:r>
              <a:rPr lang="en-US" dirty="0" smtClean="0"/>
              <a:t> a mapping file for the Employee class</a:t>
            </a:r>
          </a:p>
          <a:p>
            <a:pPr algn="just"/>
            <a:r>
              <a:rPr lang="en-US" b="1" dirty="0" err="1" smtClean="0"/>
              <a:t>HibernateUtil</a:t>
            </a:r>
            <a:r>
              <a:rPr lang="en-US" b="1" dirty="0" smtClean="0"/>
              <a:t>: </a:t>
            </a:r>
            <a:r>
              <a:rPr lang="en-US" dirty="0" smtClean="0"/>
              <a:t>user to creating the </a:t>
            </a:r>
            <a:r>
              <a:rPr lang="en-US" dirty="0" err="1" smtClean="0"/>
              <a:t>SessionFactory</a:t>
            </a:r>
            <a:r>
              <a:rPr lang="en-US" dirty="0" smtClean="0"/>
              <a:t> and Session Objects</a:t>
            </a:r>
          </a:p>
          <a:p>
            <a:pPr algn="just"/>
            <a:r>
              <a:rPr lang="en-US" b="1" dirty="0" err="1" smtClean="0"/>
              <a:t>TestClass</a:t>
            </a:r>
            <a:r>
              <a:rPr lang="en-US" b="1" dirty="0" smtClean="0"/>
              <a:t>: </a:t>
            </a:r>
            <a:r>
              <a:rPr lang="en-US" dirty="0" smtClean="0"/>
              <a:t>test the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7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Collections </a:t>
            </a:r>
            <a:r>
              <a:rPr lang="en-US" dirty="0" smtClean="0"/>
              <a:t>Mappings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8554"/>
            <a:ext cx="8763000" cy="467760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If an entity or class has collection of values for a particular variable, then we can map those values using any one of the collection interfaces available in java.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Hibernate </a:t>
            </a:r>
            <a:r>
              <a:rPr lang="en-US" dirty="0"/>
              <a:t>can persist instances of </a:t>
            </a:r>
            <a:endParaRPr lang="en-US" dirty="0" smtClean="0"/>
          </a:p>
          <a:p>
            <a:pPr lvl="1" algn="just"/>
            <a:r>
              <a:rPr lang="en-US" b="1" dirty="0" err="1" smtClean="0"/>
              <a:t>java.util.Map</a:t>
            </a:r>
            <a:endParaRPr lang="en-US" b="1" dirty="0" smtClean="0"/>
          </a:p>
          <a:p>
            <a:pPr lvl="1" algn="just"/>
            <a:r>
              <a:rPr lang="en-US" b="1" dirty="0" err="1" smtClean="0"/>
              <a:t>java.util.Set</a:t>
            </a:r>
            <a:endParaRPr lang="en-US" b="1" dirty="0" smtClean="0"/>
          </a:p>
          <a:p>
            <a:pPr lvl="1" algn="just"/>
            <a:r>
              <a:rPr lang="en-US" b="1" dirty="0" err="1" smtClean="0"/>
              <a:t>java.util.SortedMap</a:t>
            </a:r>
            <a:endParaRPr lang="en-US" b="1" dirty="0" smtClean="0"/>
          </a:p>
          <a:p>
            <a:pPr lvl="1" algn="just"/>
            <a:r>
              <a:rPr lang="en-US" b="1" dirty="0" err="1" smtClean="0"/>
              <a:t>java.util.SortedSet</a:t>
            </a:r>
            <a:endParaRPr lang="en-US" b="1" dirty="0" smtClean="0"/>
          </a:p>
          <a:p>
            <a:pPr lvl="1" algn="just"/>
            <a:r>
              <a:rPr lang="en-US" b="1" dirty="0" err="1" smtClean="0"/>
              <a:t>java.util.List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5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Association </a:t>
            </a:r>
            <a:r>
              <a:rPr lang="en-US" dirty="0" smtClean="0"/>
              <a:t>Mappings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Many-to-One</a:t>
            </a:r>
          </a:p>
          <a:p>
            <a:pPr lvl="1"/>
            <a:r>
              <a:rPr lang="en-US" dirty="0" smtClean="0"/>
              <a:t>Mapping </a:t>
            </a:r>
            <a:r>
              <a:rPr lang="en-US" dirty="0"/>
              <a:t>many-to-one relationship using </a:t>
            </a:r>
            <a:r>
              <a:rPr lang="en-US" dirty="0" smtClean="0"/>
              <a:t>Hibernate</a:t>
            </a:r>
          </a:p>
          <a:p>
            <a:pPr lvl="1"/>
            <a:endParaRPr lang="en-US" dirty="0"/>
          </a:p>
          <a:p>
            <a:r>
              <a:rPr lang="en-US" dirty="0" smtClean="0"/>
              <a:t>One-to-One</a:t>
            </a:r>
          </a:p>
          <a:p>
            <a:pPr lvl="1"/>
            <a:r>
              <a:rPr lang="en-US" dirty="0" smtClean="0"/>
              <a:t>Mapping </a:t>
            </a:r>
            <a:r>
              <a:rPr lang="en-US" dirty="0"/>
              <a:t>one-to-one relationship using </a:t>
            </a:r>
            <a:r>
              <a:rPr lang="en-US" dirty="0" smtClean="0"/>
              <a:t>Hibernate</a:t>
            </a:r>
          </a:p>
          <a:p>
            <a:pPr lvl="1"/>
            <a:endParaRPr lang="en-US" dirty="0"/>
          </a:p>
          <a:p>
            <a:r>
              <a:rPr lang="en-US" dirty="0" smtClean="0"/>
              <a:t>One-to-Many</a:t>
            </a:r>
          </a:p>
          <a:p>
            <a:pPr lvl="1"/>
            <a:r>
              <a:rPr lang="en-US" dirty="0" smtClean="0"/>
              <a:t>Mapping </a:t>
            </a:r>
            <a:r>
              <a:rPr lang="en-US" dirty="0"/>
              <a:t>one-to-many relationship using </a:t>
            </a:r>
            <a:r>
              <a:rPr lang="en-US" dirty="0" smtClean="0"/>
              <a:t>Hibernate</a:t>
            </a:r>
          </a:p>
          <a:p>
            <a:pPr lvl="1"/>
            <a:endParaRPr lang="en-US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/>
              <a:t>Many-to-Many</a:t>
            </a:r>
          </a:p>
          <a:p>
            <a:pPr lvl="1"/>
            <a:r>
              <a:rPr lang="en-US" dirty="0" smtClean="0"/>
              <a:t>Mapping </a:t>
            </a:r>
            <a:r>
              <a:rPr lang="en-US" dirty="0"/>
              <a:t>many-to-many relationship using Hibernate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94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</a:t>
            </a:r>
            <a:r>
              <a:rPr lang="en-US" dirty="0" smtClean="0"/>
              <a:t>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Component</a:t>
            </a:r>
            <a:r>
              <a:rPr lang="en-US" dirty="0" smtClean="0"/>
              <a:t> </a:t>
            </a:r>
            <a:r>
              <a:rPr lang="en-US" dirty="0"/>
              <a:t>mapping is a mapping for a class having a reference to another class as a member variable. </a:t>
            </a:r>
            <a:endParaRPr lang="en-US" dirty="0" smtClean="0"/>
          </a:p>
          <a:p>
            <a:pPr lvl="1" algn="just"/>
            <a:r>
              <a:rPr lang="en-US" dirty="0" smtClean="0"/>
              <a:t>An </a:t>
            </a:r>
            <a:r>
              <a:rPr lang="en-US" dirty="0"/>
              <a:t>component is an object that is stored as an value rather than entity reference. </a:t>
            </a:r>
            <a:endParaRPr lang="en-US" dirty="0" smtClean="0"/>
          </a:p>
          <a:p>
            <a:pPr lvl="1" algn="just"/>
            <a:r>
              <a:rPr lang="en-US" dirty="0" smtClean="0"/>
              <a:t>This </a:t>
            </a:r>
            <a:r>
              <a:rPr lang="en-US" dirty="0"/>
              <a:t>is mainly used if the dependent object </a:t>
            </a:r>
            <a:r>
              <a:rPr lang="en-US" dirty="0" smtClean="0"/>
              <a:t>doesn't </a:t>
            </a:r>
            <a:r>
              <a:rPr lang="en-US" dirty="0"/>
              <a:t>have primary key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/>
              <a:t>It is used in case of composition (HAS-A relation), that is why it is termed as component.</a:t>
            </a:r>
          </a:p>
        </p:txBody>
      </p:sp>
    </p:spTree>
    <p:extLst>
      <p:ext uri="{BB962C8B-B14F-4D97-AF65-F5344CB8AC3E}">
        <p14:creationId xmlns:p14="http://schemas.microsoft.com/office/powerpoint/2010/main" val="1696775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dirty="0" smtClean="0"/>
              <a:t>HQL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1"/>
            <a:ext cx="8686800" cy="31242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Hibernate Query Language (HQL) is an object-oriented query language, similar to SQL, but instead of operating on tables and columns, HQL works with persistent objects and their properties.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HQL </a:t>
            </a:r>
            <a:r>
              <a:rPr lang="en-US" dirty="0"/>
              <a:t>queries are translated by Hibernate into conventional SQL queries, which in turns perform action on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4038600"/>
            <a:ext cx="545944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Query </a:t>
            </a:r>
            <a:r>
              <a:rPr lang="en-US" dirty="0" err="1" smtClean="0"/>
              <a:t>query</a:t>
            </a:r>
            <a:r>
              <a:rPr lang="en-US" dirty="0" smtClean="0"/>
              <a:t> = </a:t>
            </a:r>
            <a:r>
              <a:rPr lang="en-US" dirty="0" err="1" smtClean="0"/>
              <a:t>session.createQuery</a:t>
            </a:r>
            <a:r>
              <a:rPr lang="en-US" dirty="0" smtClean="0"/>
              <a:t>(“from </a:t>
            </a:r>
            <a:r>
              <a:rPr lang="en-US" dirty="0" err="1" smtClean="0"/>
              <a:t>UserDetails</a:t>
            </a:r>
            <a:r>
              <a:rPr lang="en-US" dirty="0" smtClean="0"/>
              <a:t>”);</a:t>
            </a:r>
          </a:p>
          <a:p>
            <a:r>
              <a:rPr lang="en-US" dirty="0" smtClean="0"/>
              <a:t>List results = </a:t>
            </a:r>
            <a:r>
              <a:rPr lang="en-US" dirty="0" err="1" smtClean="0"/>
              <a:t>query.list</a:t>
            </a:r>
            <a:r>
              <a:rPr lang="en-US" dirty="0" smtClean="0"/>
              <a:t>();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4964" y="5105400"/>
            <a:ext cx="8382000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Query </a:t>
            </a:r>
            <a:r>
              <a:rPr lang="en-US" dirty="0" err="1" smtClean="0"/>
              <a:t>query</a:t>
            </a:r>
            <a:r>
              <a:rPr lang="en-US" dirty="0" smtClean="0"/>
              <a:t> = </a:t>
            </a:r>
            <a:r>
              <a:rPr lang="en-US" dirty="0" err="1" smtClean="0"/>
              <a:t>session.createQuery</a:t>
            </a:r>
            <a:r>
              <a:rPr lang="en-US" dirty="0" smtClean="0"/>
              <a:t>(“update </a:t>
            </a:r>
            <a:r>
              <a:rPr lang="en-US" dirty="0" err="1" smtClean="0"/>
              <a:t>UserDetails</a:t>
            </a:r>
            <a:r>
              <a:rPr lang="en-US" dirty="0" smtClean="0"/>
              <a:t> set name=:</a:t>
            </a:r>
            <a:r>
              <a:rPr lang="en-US" dirty="0" err="1" smtClean="0"/>
              <a:t>newName</a:t>
            </a:r>
            <a:r>
              <a:rPr lang="en-US" dirty="0" smtClean="0"/>
              <a:t> where email=:</a:t>
            </a:r>
            <a:r>
              <a:rPr lang="en-US" dirty="0" err="1" smtClean="0"/>
              <a:t>emailID</a:t>
            </a:r>
            <a:r>
              <a:rPr lang="en-US" dirty="0" smtClean="0"/>
              <a:t>”);</a:t>
            </a:r>
          </a:p>
          <a:p>
            <a:r>
              <a:rPr lang="en-US" dirty="0" err="1" smtClean="0"/>
              <a:t>query.setParameter</a:t>
            </a:r>
            <a:r>
              <a:rPr lang="en-US" dirty="0" smtClean="0"/>
              <a:t>(“</a:t>
            </a:r>
            <a:r>
              <a:rPr lang="en-US" dirty="0" err="1" smtClean="0"/>
              <a:t>newName</a:t>
            </a:r>
            <a:r>
              <a:rPr lang="en-US" dirty="0" smtClean="0"/>
              <a:t>”,”</a:t>
            </a:r>
            <a:r>
              <a:rPr lang="en-US" dirty="0" err="1" smtClean="0"/>
              <a:t>abcd</a:t>
            </a:r>
            <a:r>
              <a:rPr lang="en-US" dirty="0" smtClean="0"/>
              <a:t>”);</a:t>
            </a:r>
          </a:p>
          <a:p>
            <a:r>
              <a:rPr lang="en-US" dirty="0" err="1"/>
              <a:t>query.setParameter</a:t>
            </a:r>
            <a:r>
              <a:rPr lang="en-US" dirty="0" smtClean="0"/>
              <a:t>(“</a:t>
            </a:r>
            <a:r>
              <a:rPr lang="en-US" dirty="0" err="1" smtClean="0"/>
              <a:t>emailID</a:t>
            </a:r>
            <a:r>
              <a:rPr lang="en-US" dirty="0" smtClean="0"/>
              <a:t>”,”abcd@cdac.in”);</a:t>
            </a:r>
          </a:p>
          <a:p>
            <a:r>
              <a:rPr lang="en-US" dirty="0" err="1" smtClean="0"/>
              <a:t>query.executeUpdate</a:t>
            </a:r>
            <a:r>
              <a:rPr lang="en-US" dirty="0" smtClean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424858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/>
          <a:lstStyle/>
          <a:p>
            <a:r>
              <a:rPr lang="en-US" dirty="0" smtClean="0"/>
              <a:t>Named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1"/>
            <a:ext cx="8534400" cy="31241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Named Query </a:t>
            </a:r>
            <a:r>
              <a:rPr lang="en-US" dirty="0"/>
              <a:t>is way to use any query by some meaningful name.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is like using alias names</a:t>
            </a:r>
            <a:r>
              <a:rPr lang="en-US" dirty="0" smtClean="0"/>
              <a:t>.</a:t>
            </a:r>
          </a:p>
          <a:p>
            <a:r>
              <a:rPr lang="en-US" dirty="0"/>
              <a:t>There are two ways to define the named query in hibernate:</a:t>
            </a:r>
          </a:p>
          <a:p>
            <a:pPr lvl="1"/>
            <a:r>
              <a:rPr lang="en-US" dirty="0"/>
              <a:t>by annotation</a:t>
            </a:r>
          </a:p>
          <a:p>
            <a:pPr lvl="1"/>
            <a:r>
              <a:rPr lang="en-US" dirty="0"/>
              <a:t>by mapping </a:t>
            </a:r>
            <a:r>
              <a:rPr lang="en-US" dirty="0" smtClean="0"/>
              <a:t>file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4600" y="4343400"/>
            <a:ext cx="6288901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NamedQueries</a:t>
            </a:r>
            <a:r>
              <a:rPr lang="en-US" dirty="0" smtClean="0"/>
              <a:t>(</a:t>
            </a:r>
          </a:p>
          <a:p>
            <a:endParaRPr lang="en-US" dirty="0"/>
          </a:p>
          <a:p>
            <a:r>
              <a:rPr lang="en-US" dirty="0" smtClean="0"/>
              <a:t>{</a:t>
            </a:r>
          </a:p>
          <a:p>
            <a:r>
              <a:rPr lang="en-US" dirty="0"/>
              <a:t> </a:t>
            </a:r>
            <a:r>
              <a:rPr lang="en-US" dirty="0" smtClean="0"/>
              <a:t>  @</a:t>
            </a:r>
            <a:r>
              <a:rPr lang="en-US" dirty="0" err="1" smtClean="0"/>
              <a:t>NamedQuery</a:t>
            </a:r>
            <a:r>
              <a:rPr lang="en-US" dirty="0" smtClean="0"/>
              <a:t>(</a:t>
            </a:r>
          </a:p>
          <a:p>
            <a:r>
              <a:rPr lang="en-US" dirty="0" smtClean="0"/>
              <a:t>	name = “</a:t>
            </a:r>
            <a:r>
              <a:rPr lang="en-US" dirty="0" err="1" smtClean="0"/>
              <a:t>findUserByName</a:t>
            </a:r>
            <a:r>
              <a:rPr lang="en-US" dirty="0" smtClean="0"/>
              <a:t>”,</a:t>
            </a:r>
          </a:p>
          <a:p>
            <a:r>
              <a:rPr lang="en-US" dirty="0"/>
              <a:t>	</a:t>
            </a:r>
            <a:r>
              <a:rPr lang="en-US" dirty="0" smtClean="0"/>
              <a:t>query = “from </a:t>
            </a:r>
            <a:r>
              <a:rPr lang="en-US" dirty="0" err="1" smtClean="0"/>
              <a:t>UserDetails</a:t>
            </a:r>
            <a:r>
              <a:rPr lang="en-US" dirty="0" smtClean="0"/>
              <a:t>  </a:t>
            </a:r>
            <a:r>
              <a:rPr lang="en-US" dirty="0" err="1" smtClean="0"/>
              <a:t>ud</a:t>
            </a:r>
            <a:r>
              <a:rPr lang="en-US" dirty="0" smtClean="0"/>
              <a:t>  where ud.name=:name”</a:t>
            </a:r>
            <a:endParaRPr lang="en-US" dirty="0"/>
          </a:p>
          <a:p>
            <a:r>
              <a:rPr lang="en-US" dirty="0" smtClean="0"/>
              <a:t>)</a:t>
            </a:r>
          </a:p>
          <a:p>
            <a:r>
              <a:rPr lang="en-US" dirty="0"/>
              <a:t>}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621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HCQL (Hibernate Criteria Query Language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8534400" cy="3352800"/>
          </a:xfrm>
        </p:spPr>
        <p:txBody>
          <a:bodyPr>
            <a:normAutofit/>
          </a:bodyPr>
          <a:lstStyle/>
          <a:p>
            <a:pPr algn="just"/>
            <a:r>
              <a:rPr lang="en-US" sz="2700" dirty="0"/>
              <a:t>The Hibernate Criteria Query Language (HCQL) is used to fetch the records based on the specific criteria</a:t>
            </a:r>
            <a:r>
              <a:rPr lang="en-US" sz="2700" dirty="0" smtClean="0"/>
              <a:t>.</a:t>
            </a:r>
          </a:p>
          <a:p>
            <a:pPr algn="just"/>
            <a:endParaRPr lang="en-US" sz="2700" dirty="0"/>
          </a:p>
          <a:p>
            <a:pPr algn="just"/>
            <a:r>
              <a:rPr lang="en-US" sz="2700" b="1" dirty="0"/>
              <a:t>Session</a:t>
            </a:r>
            <a:r>
              <a:rPr lang="en-US" sz="2700" dirty="0"/>
              <a:t> interface provides </a:t>
            </a:r>
            <a:r>
              <a:rPr lang="en-US" sz="2700" dirty="0" err="1"/>
              <a:t>createCriteria</a:t>
            </a:r>
            <a:r>
              <a:rPr lang="en-US" sz="2700" dirty="0"/>
              <a:t>() method, which can be used to create a Criteria object that returns instances of the persistence object's class when your application executes a criteria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105400"/>
            <a:ext cx="530562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Criteria </a:t>
            </a:r>
            <a:r>
              <a:rPr lang="en-US" dirty="0" err="1" smtClean="0"/>
              <a:t>ct</a:t>
            </a:r>
            <a:r>
              <a:rPr lang="en-US" dirty="0" smtClean="0"/>
              <a:t> = </a:t>
            </a:r>
            <a:r>
              <a:rPr lang="en-US" dirty="0" err="1" smtClean="0"/>
              <a:t>session.createCriteria</a:t>
            </a:r>
            <a:r>
              <a:rPr lang="en-US" dirty="0" smtClean="0"/>
              <a:t>(“</a:t>
            </a:r>
            <a:r>
              <a:rPr lang="en-US" dirty="0" err="1" smtClean="0"/>
              <a:t>UserDetails.class</a:t>
            </a:r>
            <a:r>
              <a:rPr lang="en-US" dirty="0" smtClean="0"/>
              <a:t>”);</a:t>
            </a:r>
          </a:p>
          <a:p>
            <a:r>
              <a:rPr lang="en-US" dirty="0" smtClean="0"/>
              <a:t>List </a:t>
            </a:r>
            <a:r>
              <a:rPr lang="en-US" dirty="0" err="1" smtClean="0"/>
              <a:t>list</a:t>
            </a:r>
            <a:r>
              <a:rPr lang="en-US" dirty="0" smtClean="0"/>
              <a:t> = </a:t>
            </a:r>
            <a:r>
              <a:rPr lang="en-US" dirty="0" err="1" smtClean="0"/>
              <a:t>ct.ist</a:t>
            </a:r>
            <a:r>
              <a:rPr lang="en-US" dirty="0" smtClean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35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779</Words>
  <Application>Microsoft Office PowerPoint</Application>
  <PresentationFormat>On-screen Show (4:3)</PresentationFormat>
  <Paragraphs>164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Hibernate </vt:lpstr>
      <vt:lpstr>Hibernate</vt:lpstr>
      <vt:lpstr>JDBC</vt:lpstr>
      <vt:lpstr>Why Object Relational Mapping (ORM)?</vt:lpstr>
      <vt:lpstr>PowerPoint Presentation</vt:lpstr>
      <vt:lpstr>PowerPoint Presentation</vt:lpstr>
      <vt:lpstr>PowerPoint Presentation</vt:lpstr>
      <vt:lpstr>Hibernate Advantages</vt:lpstr>
      <vt:lpstr>PowerPoint Presentation</vt:lpstr>
      <vt:lpstr>Architecture</vt:lpstr>
      <vt:lpstr>Architecture</vt:lpstr>
      <vt:lpstr>Hibernate Configuration</vt:lpstr>
      <vt:lpstr>Hello World Application</vt:lpstr>
      <vt:lpstr>Collections Mappings</vt:lpstr>
      <vt:lpstr>Association Mappings</vt:lpstr>
      <vt:lpstr>Component Mapping</vt:lpstr>
      <vt:lpstr>HQL</vt:lpstr>
      <vt:lpstr>Named Query</vt:lpstr>
      <vt:lpstr>HCQL (Hibernate Criteria Query Language)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uday</dc:creator>
  <cp:lastModifiedBy>uday</cp:lastModifiedBy>
  <cp:revision>65</cp:revision>
  <dcterms:created xsi:type="dcterms:W3CDTF">2006-08-16T00:00:00Z</dcterms:created>
  <dcterms:modified xsi:type="dcterms:W3CDTF">2023-01-10T11:18:34Z</dcterms:modified>
</cp:coreProperties>
</file>